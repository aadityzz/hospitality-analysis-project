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6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0264A"/>
                </a:solidFill>
                <a:latin typeface="Arial"/>
              </a:rPr>
              <a:t>Occupancy % by Day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6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55.85</c:v>
                </c:pt>
                <c:pt idx="1">
                  <c:v>62.64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26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5E8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6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0264A"/>
                </a:solidFill>
                <a:latin typeface="Arial"/>
              </a:rPr>
              <a:t>Average Daily Rate (ADR) by City (₹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ADR (₹K)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6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Bengaluru</c:v>
                  </c:pt>
                  <c:pt idx="1">
                    <c:v>Hyderabad</c:v>
                  </c:pt>
                  <c:pt idx="2">
                    <c:v>Delhi</c:v>
                  </c:pt>
                  <c:pt idx="3">
                    <c:v>Mumbai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13.13</c:v>
                </c:pt>
                <c:pt idx="1">
                  <c:v>9.32</c:v>
                </c:pt>
                <c:pt idx="2">
                  <c:v>12.16</c:v>
                </c:pt>
                <c:pt idx="3">
                  <c:v>15.38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26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F2"/>
              </a:solidFill>
              <a:prstDash val="solid"/>
              <a:round/>
            </a:ln>
          </c:spPr>
        </c:majorGridlines>
        <c:numFmt formatCode="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6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0264A"/>
                </a:solidFill>
                <a:latin typeface="Arial"/>
              </a:rPr>
              <a:t>ADR vs. RevPAR: Standard vs. Presidential (₹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ADR (₹K)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6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Presidential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8.05</c:v>
                </c:pt>
                <c:pt idx="1">
                  <c:v>23.43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RevPAR (₹K)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6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Presidential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4.65</c:v>
                </c:pt>
                <c:pt idx="1">
                  <c:v>13.86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26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F2"/>
              </a:solidFill>
              <a:prstDash val="solid"/>
              <a:round/>
            </a:ln>
          </c:spPr>
        </c:majorGridlines>
        <c:numFmt formatCode="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026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0264A"/>
                </a:solidFill>
                <a:latin typeface="Arial"/>
              </a:rPr>
              <a:t>ADR by Booking Channel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ADR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6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Logyub</c:v>
                  </c:pt>
                  <c:pt idx="1">
                    <c:v>Direct Online</c:v>
                  </c:pt>
                  <c:pt idx="2">
                    <c:v>Makeyoutrip</c:v>
                  </c:pt>
                  <c:pt idx="3">
                    <c:v>Others</c:v>
                  </c:pt>
                  <c:pt idx="4">
                    <c:v>Direct Offline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12705</c:v>
                </c:pt>
                <c:pt idx="1">
                  <c:v>12638</c:v>
                </c:pt>
                <c:pt idx="2">
                  <c:v>12702</c:v>
                </c:pt>
                <c:pt idx="3">
                  <c:v>12794</c:v>
                </c:pt>
                <c:pt idx="4">
                  <c:v>12778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026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3657600" cy="36576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PERFORMANCE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Chain Performance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occupancy, revenue, and booking performance across a 25-hotel, 4-city portfolio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532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Tiwari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8704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Business Intelligence Portfolio Project  |  May – July 2022  |  Bengaluru · Hyderabad · Delhi · Mumbai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looks at hotel booking data to understand how the portfolio is performing on occupancy, revenue, customer booking behavior, cancellations, and day-to-day operations. The goal was simple: find insights that management can actually act 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673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1.69B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2793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(INR)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40280" y="3657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37673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40280" y="42793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Analyzed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3657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7673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42793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365760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37673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134,590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42793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Records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0" y="1417320"/>
            <a:ext cx="4297680" cy="4892040"/>
          </a:xfrm>
          <a:prstGeom prst="roundRect">
            <a:avLst>
              <a:gd name="adj" fmla="val 2128"/>
            </a:avLst>
          </a:prstGeom>
          <a:solidFill>
            <a:srgbClr val="141B4D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224942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7936992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0" y="281635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936992" y="26883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Power Query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33832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80960" y="395020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7936992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(Relationships)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80960" y="451713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7936992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Calculated Measures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508406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7936992" y="4956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Dashboarding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Analysis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five tables, covering 91 days of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1790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(May–Jul)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24912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24912" y="151790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24912" y="20116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(19–31)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01184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51790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01184" y="20116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77456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077456" y="151790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77456" y="20116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53728" y="146304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253728" y="151790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53728" y="20116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188720"/>
                <a:gridCol w="13716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of analysis 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Dim_Rooms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Dim_Hotels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hotels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Fact_aggregated_bookings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bookings &amp; capacity per hotel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Fact_bookings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134,590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booking &amp; revenue 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recommendations management can actually 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downloa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8882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7706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the raw booking data from web sources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0712" y="16002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s/clea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8882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27706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it up so it was actually usable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2784" y="16002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17" name="Shape 13"/>
          <p:cNvSpPr/>
          <p:nvPr/>
        </p:nvSpPr>
        <p:spPr>
          <a:xfrm>
            <a:off x="6473952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s/transform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188823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7344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73952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73952" y="27706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fields and built new columns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134856" y="160020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23" name="Shape 18"/>
          <p:cNvSpPr/>
          <p:nvPr/>
        </p:nvSpPr>
        <p:spPr>
          <a:xfrm>
            <a:off x="9336024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icons/tre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0" y="188823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329416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36024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36024" y="27706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relationships between tables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794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29" name="Shape 23"/>
          <p:cNvSpPr/>
          <p:nvPr/>
        </p:nvSpPr>
        <p:spPr>
          <a:xfrm>
            <a:off x="749808" y="3977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4" descr="icons/calc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408279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743200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9808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Calculations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9808" y="4965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measures needed for the KPIs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410712" y="3794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35" name="Shape 28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5" descr="icons/dashboar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082796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605272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361188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611880" y="4965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together into an interactive Power BI dashboard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272784" y="3794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41" name="Shape 33"/>
          <p:cNvSpPr/>
          <p:nvPr/>
        </p:nvSpPr>
        <p:spPr>
          <a:xfrm>
            <a:off x="6473952" y="3977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2" name="Image 6" descr="icons/insight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9108" y="4082796"/>
            <a:ext cx="292608" cy="29260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467344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6473952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6473952" y="4965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out the trends that actually mattered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9134856" y="3794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</p:spPr>
      </p:sp>
      <p:sp>
        <p:nvSpPr>
          <p:cNvPr id="47" name="Shape 38"/>
          <p:cNvSpPr/>
          <p:nvPr/>
        </p:nvSpPr>
        <p:spPr>
          <a:xfrm>
            <a:off x="9336024" y="3977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8" name="Image 7" descr="icons/flag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1180" y="4082796"/>
            <a:ext cx="292608" cy="29260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1329416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9336024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9336024" y="4965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those trends into suggested next steps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Performance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numbers from the dashboard, all figures in INR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5" name="Image 0" descr="icons/payment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184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305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₹1.69B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successful bookings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92424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10" name="Image 1" descr="icons/be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61848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1024" y="21305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57.79%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621024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21024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available rooms occupied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36208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15" name="Image 2" descr="icons/trending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6184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64808" y="21305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₹12.70K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464808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64808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occupied room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79992" y="14173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20" name="Image 3" descr="icons/assessmen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61848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08592" y="21305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₹7.34K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9308592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08592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available room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25" name="Image 4" descr="icons/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3308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46451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70.1%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777240" y="5212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77240" y="5532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check-ins vs. bookings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92424" y="39319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30" name="Image 5" descr="icons/even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413308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21024" y="46451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2.53K</a:t>
            </a:r>
            <a:endParaRPr lang="en-US" sz="2600" dirty="0"/>
          </a:p>
        </p:txBody>
      </p:sp>
      <p:sp>
        <p:nvSpPr>
          <p:cNvPr id="32" name="Text 24"/>
          <p:cNvSpPr/>
          <p:nvPr/>
        </p:nvSpPr>
        <p:spPr>
          <a:xfrm>
            <a:off x="3621024" y="5212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21024" y="5532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rooms available for sale/day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36208" y="39319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pic>
        <p:nvPicPr>
          <p:cNvPr id="35" name="Image 6" descr="icons/hotel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4133088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464808" y="464515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1.46K</a:t>
            </a:r>
            <a:endParaRPr lang="en-US" sz="2600" dirty="0"/>
          </a:p>
        </p:txBody>
      </p:sp>
      <p:sp>
        <p:nvSpPr>
          <p:cNvPr id="37" name="Text 28"/>
          <p:cNvSpPr/>
          <p:nvPr/>
        </p:nvSpPr>
        <p:spPr>
          <a:xfrm>
            <a:off x="6464808" y="5212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DBRN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64808" y="5532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rooms booked per day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79992" y="393192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C9A227"/>
          </a:solidFill>
          <a:ln/>
        </p:spPr>
      </p:sp>
      <p:sp>
        <p:nvSpPr>
          <p:cNvPr id="40" name="Text 31"/>
          <p:cNvSpPr/>
          <p:nvPr/>
        </p:nvSpPr>
        <p:spPr>
          <a:xfrm>
            <a:off x="9308592" y="416052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main numbers picked for the dashboard. There are more detailed DAX measures behind the scenes for anyone who wants to dig into trends or comparisons.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Occupancy: Weekday vs. Weekend Demand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bring in noticeably more demand than weekdays across the portfolio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554480"/>
            <a:ext cx="5623560" cy="3291840"/>
          </a:xfrm>
          <a:prstGeom prst="roundRect">
            <a:avLst>
              <a:gd name="adj" fmla="val 2778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/>
          <p:nvPr/>
        </p:nvSpPr>
        <p:spPr>
          <a:xfrm>
            <a:off x="62636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22037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0574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occupancy sits at 62.64%, compared to 55.85% on weekdays. That's a gap of 6.8 percentage points, and it points to weekend travel being the bigger demand driver.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309067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944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occupancy across the whole period is 57.79%, which means a decent chunk of room inventory just isn't being used.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55701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that 6.8-point swing, ADR barely moved. Pricing stayed flat regardless of the demand shift.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43159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416966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week by week (weeks 19 to 31), ADR held steady around ₹12.6K to ₹12.7K, while RevPAR climbed from ₹6.0K to ₹7.5K as occupancy improved from 50% to 60%. So the RevPAR growth came from filling more rooms, not from charging more.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Performance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on revenue and pricing, Delhi leads on occupancy, and Hyderabad lags on revenue efficiency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SNAPSHOT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194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24871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₹660.6M  ·  Highest revenue and RevPAR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26680" y="29169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26680" y="32095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60.44% occ.  ·  Highest occupancy, lower ADR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36393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₹415.0M  ·  Steady on revenue and ADR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26680" y="43616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26680" y="46542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₹5.40K RevPAR  ·  Lowest revenue efficiency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Efficiency by Room Category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not higher occupancy, is what drives revenue efficiency in upper room classes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3291840"/>
          </a:xfrm>
          <a:prstGeom prst="roundRect">
            <a:avLst>
              <a:gd name="adj" fmla="val 2778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26680" y="224028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936992" y="21214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Presidential rooms come out on top, with the highest ADR (₹23.43K) and RevPAR (₹13.86K).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26680" y="28986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936992" y="277977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rooms sit at the other end, with the lowest ADR (₹8.05K) and RevPAR (₹4.65K).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355701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936992" y="343814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and realisation stay fairly close across all room classes, around 59% and 70% respectively.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26680" y="421538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936992" y="40965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it's pricing doing the heavy lifting here, not occupancy.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Conversion &amp; Channel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70% realisation rate hides a consistent 30% revenue leakage from cancellations and no-shows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70.14%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within a point or two across every city, month, and week. That 30% booking loss shows up everywhere, not just in one spot.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60520" y="1600200"/>
          <a:ext cx="3703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6002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C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TAKEAWAYS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21040" y="2240280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0" y="21214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'Others' channel brings in the most bookings, and as a result, the most revenue.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8321040" y="289864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503920" y="277977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Offline is the weakest channel on both counts.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8321040" y="3557016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34381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(₹12.64K to ₹12.79K) and realisation (69.80% to 70.57%) stay fairly consistent across channels.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8321040" y="421538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40965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revenue differences come down to volume, not pricing or conversion.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Chain Performance Analysis  |  Executive Report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that matter most for portfolio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bring in noticeably more demand, about 6.8 points higher in occupancy than weekdays.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1907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8040" y="171907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occupancy at 57.79% shows there's still real unused room capacity.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64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336499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growth over the period tracked more closely with occupancy than with ADR.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364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78040" y="336499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is the top-performing city. Hyderabad has the most room to improve on revenue efficiency.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501091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and Presidential rooms earn more mainly through pricing, not through higher occupancy.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0109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5010912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sits around 70%, so close to 30% of confirmed bookings never turn into a stay.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suggestion below ties back to a specific finding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7492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we'd suggest doing about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demand is a lot stronger than weekday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weekday promotions or corporate packages to fill rooms during slower periods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 sits at 57.79%, leaving rooms unused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demand forecasting and dynamic pricing to lift utilization without hurting ADR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moved more with occupancy than with ADR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demand generation rather than leaning on price changes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outperforms, Hyderabad lags on RevPAR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what's working in Mumbai's pricing and see if it applies to Hyderabad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and Presidential rooms earn more mainly through pricing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premium upgrades through personalized offers and upselling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30% of confirmed bookings don't convert to stays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Tighten up confirmations and cancellation policies, maybe reminders or selective non-refundable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revenue differences come from volume, not pricing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more marketing behind the stronger channels and reassess the weaker 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-640080"/>
            <a:ext cx="2926080" cy="292608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344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portfolio performance using revenue, occupancy, ADR, RevPAR, and realisation.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4825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1109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demand is clearly stronger than weekday demand, and overall occupancy suggests there's room to improve utilization.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47802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comes down to a mix of occupancy, pricing, room class, and city.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8211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449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the portfolio. Hyderabad has the most upside on revenue efficiency.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611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Higher-tier rooms earn more mostly through pricing, and that 30% realisation gap is a real, ongoing leak.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788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this gives management a solid, data-backed starting point for improving performance.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2801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Tiwari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github.com/aadityzz/Hospitality-Analysis-Project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linkedin.com/in/adityatiwarix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2026-07-16T04:52:37Z</dcterms:created>
  <dcterms:modified xsi:type="dcterms:W3CDTF">2026-07-16T04:52:37Z</dcterms:modified>
</cp:coreProperties>
</file>